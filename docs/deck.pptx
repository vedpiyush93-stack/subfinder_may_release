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A3A5C"/>
                </a:solidFill>
              </a:rPr>
              <a:t>subFinder</a:t>
            </a:r>
          </a:p>
          <a:p>
            <a:pPr algn="l"/>
            <a:r>
              <a:rPr sz="2800">
                <a:solidFill>
                  <a:srgbClr val="2C3E50"/>
                </a:solidFill>
              </a:rPr>
              <a:t>Calibrated classical-ML for PUL substrate prediction</a:t>
            </a:r>
          </a:p>
          <a:p>
            <a:pPr algn="l">
              <a:spcBef>
                <a:spcPts val="2000"/>
              </a:spcBef>
            </a:pPr>
            <a:r>
              <a:rPr sz="1600">
                <a:solidFill>
                  <a:srgbClr val="7F8C8D"/>
                </a:solidFill>
              </a:rPr>
              <a:t>Benchmark · best model · reproducibility · signature genes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Problem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Predict one of 12 polysaccharide substrate classes from a PUL's gene-token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Dataset — </a:t>
            </a:r>
            <a:r>
              <a:rPr sz="1500">
                <a:solidFill>
                  <a:srgbClr val="2C3E50"/>
                </a:solidFill>
              </a:rPr>
              <a:t>1,030 labeled PULs across 12 substrates (alginate, alpha-glucan, alpha-mannan, arabinogalactan, beta-glucan, beta-mannan, chitin, fructan, galactan, host glycan, pectin, xylan)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Each PUL — </a:t>
            </a:r>
            <a:r>
              <a:rPr sz="1500">
                <a:solidFill>
                  <a:srgbClr val="2C3E50"/>
                </a:solidFill>
              </a:rPr>
              <a:t>a comma/pipe-separated string of CAZy family IDs, transporter classification IDs, transcription-factor types, and null padding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Cross-validation — </a:t>
            </a:r>
            <a:r>
              <a:rPr sz="1500">
                <a:solidFill>
                  <a:srgbClr val="2C3E50"/>
                </a:solidFill>
              </a:rPr>
              <a:t>5-repeat × 5-fold Repeated Stratified K-Fold (n=25 trials per configuration) — leak-free: word-embedding models retrained per fold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Goal — </a:t>
            </a:r>
            <a:r>
              <a:rPr sz="1500">
                <a:solidFill>
                  <a:srgbClr val="2C3E50"/>
                </a:solidFill>
              </a:rPr>
              <a:t>(1) maximise predictive accuracy, (2) emit calibrated probabilities, (3) produce per-PUL signature-gene attributions that match literature CAZy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29 configurations = (3 featurizer families × 1 classifier swap) + (4 DL architectures × 5 embeddings)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Featurizers (3)  </a:t>
            </a:r>
            <a:r>
              <a:rPr sz="1300">
                <a:solidFill>
                  <a:srgbClr val="2C3E50"/>
                </a:solidFill>
              </a:rPr>
              <a:t>CountVectorizer (paper's tok_comma_pipe), CountVectorizer (tok_cpu — additionally splits on underscore), FastText mean+max-concat (gensim ft.wv[t] with n-gram OOV)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Embeddings retrained per fold (6)  </a:t>
            </a:r>
            <a:r>
              <a:rPr sz="1300">
                <a:solidFill>
                  <a:srgbClr val="2C3E50"/>
                </a:solidFill>
              </a:rPr>
              <a:t>FastText cbow/sg, Word2Vec cbow/sg, Doc2Vec dm/dbow — leak-free (test tokens never enter embedding training)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Classifiers  </a:t>
            </a:r>
            <a:r>
              <a:rPr sz="1300">
                <a:solidFill>
                  <a:srgbClr val="2C3E50"/>
                </a:solidFill>
              </a:rPr>
              <a:t>OvR(BalancedRF n=100) baseline; OvR(ExtraTrees n=500 log2/sqrt) ours; 4 DL architectures from paper (vanilla LSTM, LSTM+attention, just-attention, 4-block transformer)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Hyperparameters  </a:t>
            </a:r>
            <a:r>
              <a:rPr sz="1300">
                <a:solidFill>
                  <a:srgbClr val="2C3E50"/>
                </a:solidFill>
              </a:rPr>
              <a:t>Paper-verbatim for shallow + DL except batch (DL_BATCH=1024, Transformer=4096 for M4 Max throughput); EarlyStopping patience=30, validation 25%, Adam 1e-4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Total  </a:t>
            </a:r>
            <a:r>
              <a:rPr sz="1300">
                <a:solidFill>
                  <a:srgbClr val="2C3E50"/>
                </a:solidFill>
              </a:rPr>
              <a:t>29 configs × 25 trials = 725 fits; reused per-fold embeddings = reproducible to ~1e-3 on DL, bit-identical on sklearn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leaderboard — 29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Mean test accuracy ± 1 SD across the full 5×5 RSKF grid (n=25 trials per config). Best on top.</a:t>
            </a:r>
          </a:p>
        </p:txBody>
      </p:sp>
      <p:pic>
        <p:nvPicPr>
          <p:cNvPr id="4" name="Picture 3" descr="fig1_benchmark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666" y="1325880"/>
            <a:ext cx="778436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every row is one of 29 configurations (featurizer → classifier pair); bars are sorted descending so the strongest configs are at the top. Green = our shallow winners; navy = paper's Balanced RF baselines; orange = paper's deep architectures. Numbers next to each bar are the 25-trial mean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Top-5 podium — the leading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Both #1 and #2 share the same OvR(ExtraTrees) classifier under different featurizers — the win is in the classifier, not the featurizer</a:t>
            </a:r>
          </a:p>
        </p:txBody>
      </p:sp>
      <p:pic>
        <p:nvPicPr>
          <p:cNvPr id="4" name="Picture 3" descr="fig1b_top5_po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296" y="1371600"/>
            <a:ext cx="854510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TAKEAWAY — swapping the paper's Balanced RF (n=100) for OvR(ExtraTrees n=500) on the same data delivers +6 pp accuracy. The featurizer choice (CountVec vs. FastText) is a secondary effect; ranks #3–#5 are all the paper's BRF baseline with different word-embedding featurizers.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Reproducibility — does a rerun give the same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Δ accuracy (rep_2 mean − rep_1 mean, should be ≈ 0 for reproducibility). 5×5 RSKF data splits are FIXED across reps; only model-init seed (REPRO_REP_SEED) varies. Restricted to the 29/29 configs with a COMPLETE 25-trial run in both reps.</a:t>
            </a:r>
          </a:p>
        </p:txBody>
      </p:sp>
      <p:pic>
        <p:nvPicPr>
          <p:cNvPr id="4" name="Picture 3" descr="fig3_reproduc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161" y="1417320"/>
            <a:ext cx="889137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re-running the SAME (config, seed, fold) with a DIFFERENT model-init seed (REPRO_REP_SEED), do we get the same accuracy? Our ExtraTrees winners (green) are random_state-seeded so they're identical across reps (Δ=0). Balanced RF baselines (navy) and DL configs (orange) show small Δ from imblearn thread non-determinism and weight-init+GPU op-order non-determinism respectively. Top rankings are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Cross-rep reproducibility — 5 reps × 25 trials, data splits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Model-init seed varies (REPRO_REP_SEED=1000/2000/3000/4000/5000); 5×5 RSKF data splits held fixed. Each row = one of 29 configs; 5 dots = per-rep means; square = cross-rep mean; bar = min↔max range.</a:t>
            </a:r>
          </a:p>
        </p:txBody>
      </p:sp>
      <p:pic>
        <p:nvPicPr>
          <p:cNvPr id="4" name="Picture 3" descr="fig14_cross_rep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481" y="1325880"/>
            <a:ext cx="66907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winner cpu__ET500_log2: &lt;b&gt;0.9063 ± 0.0006&lt;/b&gt; across 5 reps (range 0.9052–0.9068, deterministic to 4th decimal). 2nd-place ftCbow_MM__ET500_sqrt also stable at 0.9007 ± 0.0006. &lt;b&gt;Top-7 rank stability: 5/7 ranks identical across all 5 reps&lt;/b&gt; (ranks 1-5 + 7 identical in every rep, single swap between #6/#7 in rep_3). Per-family median cross-rep std: OvR(ExtraTrees) 0.0006 · OvR(BalancedRF) 0.0027 · DL families 0.0047-0.0064. Our shallow winner is essentially deterministic; DL configs have 8-10× more model-init variance.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OvR(ExtraTrees 500, log2) on seed-42 5-fold out-of-fold predictions  (n=1030 PULs, acc=0.9058)</a:t>
            </a:r>
          </a:p>
        </p:txBody>
      </p:sp>
      <p:pic>
        <p:nvPicPr>
          <p:cNvPr id="4" name="Picture 3" descr="fig4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568" y="1325880"/>
            <a:ext cx="621255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rows are true substrate, columns are predicted; cell numbers are PUL counts. Diagonal cells are correct predictions; off-diagonal cells are mistakes. The hardest classes are fructan and beta-mannan (small canonical sets and few training examples); alginate, pectin and xylan reach near-perfect classwise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F1 /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Seed-42 5-fold OOF, sorted by 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55448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463040"/>
                <a:gridCol w="1463040"/>
                <a:gridCol w="1280160"/>
              </a:tblGrid>
              <a:tr h="35169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 test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72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0.677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Probability calibration of the chosen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Temperature scaling halves ECE while preserving the argmax accuracy. ALL signature-gene analyses on the next slides use these CALIBRATED probabilities (T=0.70) — sig genes depend on probabilities, so they should be computed on the deployed (calibrated) model.</a:t>
            </a:r>
          </a:p>
        </p:txBody>
      </p:sp>
      <p:pic>
        <p:nvPicPr>
          <p:cNvPr id="4" name="Picture 3" descr="fig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51" y="1508760"/>
            <a:ext cx="10907591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the reliability diagram (left) plots predicted confidence vs. empirical accuracy across 10 bins; a perfectly-calibrated model sits on the dashed diagonal. Temperature scaling (green) is the recommended protocol: halves ECE (0.094 → 0.029) with zero loss of argmax accuracy. IMPORTANT: the leave-one-token-out Δ-prob ablations on slides 11-13 are computed AFTER applying per-fold temperature scaling (mean T=0.70), so the sig genes reflect the deployed model's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signature genes (raw model top-3) — lit-DB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NO filtering. Of 26 CAZy features in 36 top-3 slots: 21 are lit-canonical (19 via 1:1, 2 via collapse); 5 CAZy not in lit-canon; 10 non-CAZy tokens (lit can't check).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383280"/>
                <a:gridCol w="3383280"/>
                <a:gridCol w="3383280"/>
              </a:tblGrid>
              <a:tr h="35872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2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3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PL17 (imp 0.125)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PL6 (imp 0.110)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GntR (imp 0.065)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 (imp 0.094)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0.058)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GH97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GH99 (imp 0.119)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GH92 (imp 0.117)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GH125 (imp 0.089)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GH51 (imp 0.097)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arabinan, arabinogalactan protein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24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 (imp 0.034)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 (imp 0.031)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GH26 (imp 0.069)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GH130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 (imp 0.150)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4.A.3.2.1 (imp 0.064)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4.A.3.2.7 (imp 0.042)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GH32 (imp 0.220)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2.A.1.7.17 (imp 0.043)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PfkB (imp 0.028)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GH53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nan (imp 0.035)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CE9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CBM32 (imp 0.032)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GH28 (imp 0.049)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GH105 (imp 0.036)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 (imp 0.074)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GH67 (imp 0.037)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C3E50"/>
                </a:solidFill>
              </a:rPr>
              <a:t>[LIT] = canonical CAZy in literature (green; darker = 1:1 exact, lighter = via collapse)     [miss] = CAZy family but NOT in lit canon for this substrate (red)     [—] = non-CAZy token; literature cannot adjudicate (yellow)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Example predictions on held-out test PULs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All 10 examples are correctly-classified PULs (true substrate = predicted substrate) cherry-picked for high literature-canonical coverage in their top-5 ablation list. Population-level metrics across all 1030 PULs are on the next slide.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691640"/>
          <a:ext cx="11841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51560"/>
                <a:gridCol w="1051560"/>
                <a:gridCol w="594360"/>
                <a:gridCol w="777240"/>
                <a:gridCol w="4023360"/>
                <a:gridCol w="411480"/>
              </a:tblGrid>
              <a:tr h="39069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PUL gene-token sequence (first ~70 chars)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TRUE 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max prob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top-5 signature genes (LIT=lit-canon; CAZy; acc=accessory)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#LIT/5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CE12,GH28,PL10_1|CE8,GH43_10|CBM91,GH105,GH105,8.A.46.1.6,1.B.14.6....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2.1e-17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GH28; [LIT] CE8; [LIT] CE12; [LIT] PL10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1.A.23,null,GH29|CBM32,GH2,GH20,null,null,null,1.B.14,GH18,null,nul...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9.9e-17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GH2; [LIT] CBM32; [LIT] GH29; [LIT] GH20; [LIT] GH18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GH105,CE8,CE12|CE8,HTH_AraC,null,null,1.B.14,PL1_2,PL1_2,9.B.116,Ly...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2.5e-16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CE12; [LIT] GH28; [LIT] PL1; [LIT] CE8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CE6|GH95,CE1,GH5_21,GH10,GH10,null,null,null,null,1.B.14.6.1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CE6; [LIT] GH95; [LIT] GH5; [LIT] CE1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1.B.14,GH29,GH18,GH20,GH2,GH3,GH125,GH92,GH35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GH20; [LIT] GH29; [LIT] GH18; [LIT] GH92; [LIT] GH2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GH48,GH8,GH9|CBM3,CBM4|GH9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0.989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GH9; [LIT] CBM4; [LIT] CBM3; [LIT] GH8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1.B.14.6.1,null,null,null,null,GH10,GH5_21,null,GH43_35,GH43_1,GH10...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GH67; [LIT] GH43; [LIT] GH5; [acc]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null,HATPase_c,null,9.B.174,GH3,GH2,GH31,HTH_AraC|HTH_AraC,GH9,null...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6.4e-15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GH31; [LIT] GH3; [LIT] GH5; [acc] 4; [LIT] GH2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GH18,AA10|CBM5,GH18|CBM5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1.6e-140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GH18,AA10|CBM5|CBM5,GH18|CBM5|CBM5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3.7e-126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TRUE &amp; PREDICTED columns are both shown so reviewers can confirm we're not hiding errors — in all 10 rows truth equals prediction by construction (we filter to correctly-classified PULs first, then rank by lit-canonical coverage). For a per-PUL hit-rate that includes ALL eligible PULs (not just the cherry-picked top 10), see Slide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Population-level signature-gene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Two complementary recall-style metrics. TRUE-class attribution on CALIBRATED probabilities (T=0.70) — same method used in slide 13's per-substrate funnels.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</a:rPr>
              <a:t>How we built 'scope': of the 394 (substrate, canonical-CAZy) pairs the literature lists, many of those canonical genes never appear in any of our 1030 PULs — we exclude those, leaving 173 'in-scope' (substrate, gene) pairs the model could plausibly find. Across ALL 1030 OOF PULs, 837 contain ≥1 in-scope canonical gene for their TRUE substrate (the 'eligible' denominator).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Left bar (PUL-level recall): for what % of eligible PULs does the top-K Δ_TRUE-class ablation list include at least one canonical gene for the TRUE substrate? Right bar (gene-level recall): of the 173 in-scope canonical genes, how many does the model surface as a top-K Δ_TRUE-class signature gene anywhere in the population? K=3 totals (768/837=91.8% any-hit and 109/173=63.0% scope coverage) match slide 13's per-substrate funnel totals exactly.</a:t>
            </a:r>
          </a:p>
        </p:txBody>
      </p:sp>
      <p:pic>
        <p:nvPicPr>
          <p:cNvPr id="5" name="Picture 4" descr="fig6_li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09" y="2377440"/>
            <a:ext cx="1069147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sig-gene funnel — TRUE-class attribution (K=3)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Δ-prob computed against the TRUE substrate, not the argmax. Decouples attribution quality from classification quality — we ask 'when truth is s, did the model surface a canonical CAZy for s as a top-3 sig gene?' regardless of whether the model picked s as its prediction.</a:t>
            </a:r>
          </a:p>
        </p:txBody>
      </p:sp>
      <p:pic>
        <p:nvPicPr>
          <p:cNvPr id="4" name="Picture 3" descr="fig8b_per_substrate_sig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36" y="1508760"/>
            <a:ext cx="931482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WHY TRUE-CLASS ON CALIBRATED PROBS — our model outputs probabilities for all 12 classes for every PUL, so leave-one-token-out Δ-prob can be computed for ANY class. We compute Δ_s for TRUE substrate s using the CALIBRATED probabilities (per-fold temperature scaling, see Slide 9), which is what the deployed inference pipeline emits. Both funnels use truth as the unit (no 'correctly predicted' gate). Totals: PUL view 1030 → 837 eligible → 768 hit (91.8%) · gene view 394 → 173 in-scope → 109 flagged (63.0%). Scope recall is ~3 pp higher than the argmax-gated 60.1% on legacy aggregates because we now catch genes attributed correctly in PULs the model classified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Rank-K redemption — TRUE substrate is recovered fast as K grows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Cumulative top-K accuracy on 1030 held-out PULs (rep_1 OOF). When top-1 is wrong, the TRUE label is usually rank 2 or 3 — meaningful for triage workflows where biologists review the top few candidates.</a:t>
            </a:r>
          </a:p>
        </p:txBody>
      </p:sp>
      <p:pic>
        <p:nvPicPr>
          <p:cNvPr id="4" name="Picture 3" descr="fig11_rank_redem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top-1 = 0.906, top-2 = 0.956 (+5.0 pp), top-3 = 0.976 (+2.0 pp), top-5 = 0.981. Per-substrate: alginate is 100% at K=1; fructan is the hardest (top-1 = 0.677) but jumps to 0.903 by K=3 — i.e. when the model is wrong on fructan, the true class is almost always rank 2 or 3. Mean true-rank across all substrates = 1.39 (median 1). Calibrated probs make these ranks deployment-meaningful — see Slide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Calibration is meaningful — confidence ≈ accuracy per 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10-bin reliability histogram on calibrated probabilities (T ≈ 0.70). Sage = correct, red = incorrect. High-confidence predictions (≥0.8) ARE correct in ≥97% of cases — supports a triage/review workflow with a high-precision auto-accept threshold.</a:t>
            </a:r>
          </a:p>
        </p:txBody>
      </p:sp>
      <p:pic>
        <p:nvPicPr>
          <p:cNvPr id="4" name="Picture 3" descr="fig12_confidence_vs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PER-BIN ACCURACY — 0.8-0.9 → 98.2% correct (110/112) · 0.9-1.0 → 97.3% correct (566/582). Combined ≥0.8: 97.4% correct on 694 PULs (67% of total). Bottom bins (≤0.5) show ~54-65% — the model 'knows it doesn't know'. Operational implication: route confidence ≥0.8 to auto-accept (precision ≈ 0.97), route 0.5-0.8 to expert review, refuse &lt;0.5. Same calibrator powers the deployed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Case studies — 6 hand-picked PUL predictions showing the value of top-K + sig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Each card: TRUE substrate, model's top-3 (calibrated probs), and the gene sequence. Mix of confident-correct, low-conf-correct, rank-2/3 redemptions, and a confident-wrong failure mode.</a:t>
            </a:r>
          </a:p>
        </p:txBody>
      </p:sp>
      <p:pic>
        <p:nvPicPr>
          <p:cNvPr id="4" name="Picture 3" descr="fig13_case_stud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76" y="1325880"/>
            <a:ext cx="441374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THE CARDS — green = top-1 is TRUE · amber = TRUE recovered at rank 2 or 3 · red = TRUE missing from top-3. Confident+correct (alginate, 0.96) shows clean signal: PL6/PL17 are canonical alginate lyases. Rank-2 redemption (alpha-glucan, 0.52 vs 0.32) — model splits between α/β-glucan, GH13 nudges α. Confident-wrong (alpha-glucan classified as fructan, p=1.0) — GH32/3.A.1.1.x are PRTS sucrose markers; ambiguous substrate.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Internal robustness — accuracy vs train-vocab OOV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Uses the SAME featurizer the deployed model uses (CountVec with tok_cpu, fit per fold on outer_tr only). 'OOV' = test tokens NOT in the training fold's vocab.</a:t>
            </a:r>
          </a:p>
        </p:txBody>
      </p:sp>
      <p:pic>
        <p:nvPicPr>
          <p:cNvPr id="4" name="Picture 3" descr="fig8c_oov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3648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+ CAVEAT — bar widths ∝ PUL count per bucket. 89% of test PULs have 0% OOV; the model scores 91% on them. Once OOV &gt;10%, accuracy collapses to ~64%. CAVEAT: 'novel' here means WITHIN-DATASET distinct-token frequency, NOT biological novelty (1030 PULs share a tight ~517-token vocab; a typical training fold covers ~488 of them). The TRUE cross-organism novelty test is on fungal CGCs — see supplement S9 where 24/24 are flagged REFUSE.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Robustness — how stable is each model family across trials?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absolute test accuracy (range 0.4-0.95). 6 rows = 6 model families pooling every (config × seed × fold) trial. Distinct from Slide 6 which shows Δ accuracy of a single rerun.</a:t>
            </a:r>
          </a:p>
        </p:txBody>
      </p:sp>
      <p:pic>
        <p:nvPicPr>
          <p:cNvPr id="4" name="Picture 3" descr="fig9_tr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4" y="1417320"/>
            <a:ext cx="831206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for ONE family, how much does a single (seed, fold) trial change the accuracy? Box markers show central tendency; dots are individual trials. The green family sits entirely above 0.86 with a tight ~0.04 spread; deep families span much wider (some folds dip below 0.55). Our shallow ensemble is BOTH more accurate AND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Full 29-config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Every configuration benchmarked; rank 1 highlighted gold, ranks 2-3 pale gold.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25880"/>
          <a:ext cx="11887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828800"/>
                <a:gridCol w="1005840"/>
                <a:gridCol w="2286000"/>
                <a:gridCol w="2011680"/>
                <a:gridCol w="2743200"/>
                <a:gridCol w="1691640"/>
              </a:tblGrid>
              <a:tr h="17068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config (shorthand)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featurizer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clf.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cpu__ET500_log2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tok_cpu (splits on , | _)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0.9066 ± 0.0174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ftCbow_MM__ET500_sqrt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mean+max concat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max_features=sqrt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0.9010 ± 0.0225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cv__BRF100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paper's tok_comma_pipe (, |)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0.8402 ± 0.0254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0.8301 ± 0.0298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0.8169 ± 0.0263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0.8148 ± 0.0253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0.8095 ± 0.0303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0.7883 ± 0.0214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0.7860 ± 0.0234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0.7825 ± 0.0317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0.7821 ± 0.0219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0.7819 ± 0.0323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0.7796 ± 0.0302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0.7784 ± 0.0275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0.7713 ± 0.0329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0.7711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0.7693 ± 0.0392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0.7689 ± 0.0415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0.7683 ± 0.0320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0.7652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0.7619 ± 0.0417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0.7559 ± 0.0371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0.7518 ± 0.0343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0.7517 ± 0.0192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0.7495 ± 0.0411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DBOW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0.7491 ± 0.0334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0.7404 ± 0.0487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0.7320 ± 0.0315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0.7206 ± 0.0308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Sorted by mean test accuracy; n=25 trials each (5×5 RSKF)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featurizer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featurizer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371600"/>
                <a:gridCol w="16459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featurizer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0.8734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0.0514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classifier choices. Pattern — CountVec leads because it carries our ExtraTrees winner; FastText/Word2Vec/Doc2Vec families are pulled down by their BRF/DL classifier pairings.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classifier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371600"/>
                <a:gridCol w="1463040"/>
                <a:gridCol w="1828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classifier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0.9038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0.0201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0.8062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0.7663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0.0349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4864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featurizer choices. Pattern — OvR(ExtraTrees) is the only family in the &gt;0.90 band; every DL family lands in 0.74-0.82.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Training time per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Why our shallow winner is cheap. Grand total across all 725 fits: 13562 s = 3.77 h on Apple M4 Max</a:t>
            </a:r>
          </a:p>
        </p:txBody>
      </p:sp>
      <p:pic>
        <p:nvPicPr>
          <p:cNvPr id="4" name="Picture 3" descr="fig10_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420" y="1371600"/>
            <a:ext cx="737685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2C3E50"/>
                </a:solidFill>
              </a:rPr>
              <a:t>Our winner trains in ~3 s/fold (≈75 s per 25-fold config); the most expensive DL family — the 4-block transformer — takes ~70 s/fold (≈30 min per config), i.e. ~24× more compute per fit. Times exclude per-fold word-embedding training (cached under fold_cache_v2/) and the OvR(ExtraTrees) winner is therefore ~25× more compute-efficient per percentage point of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Substrate-alias map between literature DB and our 12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Curated DB has 75 finer-grained substrate categories; we collapse them into our 12 with primary-literature support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463040"/>
                <a:gridCol w="3566160"/>
              </a:tblGrid>
              <a:tr h="379827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Our class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Lit name(s)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Match type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Citation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(Lombard 2014 NAR)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 (1:1) + cellulose, cellooligosaccharide, xyloglucan, beta-glycan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+ 4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Burton 2006 Science 311:1940; Eklof &amp; Brumer 2010 Plant Physiol 153:456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 (1:1) + starch, glycogen, sucrose, raffinose, trehalose, palatinose, glucooligo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+ 7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Stam 2006 Protein Eng. 19:555; Janecek 2014 Cell. Mol. Life Sci. 71:1149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 (1:1) + chitosan, chitooligosaccharide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+ 2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Hartl 2012 Appl. Microbiol. 93:533; Adrangi &amp; Faramarzi 2013 Biotech. Adv. 31:1786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 (1:1) + HMO, sialic-acid, fucose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+ 3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Marcobal 2011 Cell Host &amp; Microbe 10:507; Tailford 2015 Frontiers Genet. 6:81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arabinan + arabinogalactan protein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Tan 2013 Plant Cell 25:270; Showalter 2010 Plant Physiol 153:485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alpha-galactan + beta-galactan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— anomericity sub-classes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Detailed citations in paper/reference.bib; codified as ALIAS_PROVENANCE in presentations/build_slides.py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Best configuration — </a:t>
            </a:r>
            <a:r>
              <a:rPr sz="1300">
                <a:solidFill>
                  <a:srgbClr val="2C3E50"/>
                </a:solidFill>
              </a:rPr>
              <a:t>cpu__ET500_log2 = CountVec (tok_cpu) × OvR(ExtraTrees n=500, log2, class_weight='balanced', bootstrap=False) — 0.9058 ± 0.0172 on full 5×5 RSKF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Wins by classifier choice, not features — </a:t>
            </a:r>
            <a:r>
              <a:rPr sz="1300">
                <a:solidFill>
                  <a:srgbClr val="2C3E50"/>
                </a:solidFill>
              </a:rPr>
              <a:t>+6.16 pp over published BRF baseline (paired t-test p ≈ 5×10⁻¹⁴), +8.10 pp over best paper DL (LSTM-with-attention on FastText-skipgram)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Calibrated for deployment — </a:t>
            </a:r>
            <a:r>
              <a:rPr sz="1300">
                <a:solidFill>
                  <a:srgbClr val="2C3E50"/>
                </a:solidFill>
              </a:rPr>
              <a:t>Temperature T ≈ 0.70 reduces 10-bin ECE from 0.094 to 0.029 while preserving 0.9029 OOF accuracy exactly (monotonic)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Signature genes are biologically interpretable — </a:t>
            </a:r>
            <a:r>
              <a:rPr sz="1300">
                <a:solidFill>
                  <a:srgbClr val="2C3E50"/>
                </a:solidFill>
              </a:rPr>
              <a:t>Per-PUL leave-one-token-out ablation surfaces ≥1 literature-canonical CAZy in top-3 for 93% of eligible PULs; covers 62% of the in-scope canonical gene vocabulary at K=3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Fully reproducible — </a:t>
            </a:r>
            <a:r>
              <a:rPr sz="1300">
                <a:solidFill>
                  <a:srgbClr val="2C3E50"/>
                </a:solidFill>
              </a:rPr>
              <a:t>Every (config, seed, fold) classifier weight + train/test predictions saved in reproducibility/rep_1/predictions/ — single command `--training False` rebuilds every paper number in ~1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