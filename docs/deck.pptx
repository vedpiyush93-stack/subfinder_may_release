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99971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600" b="1">
                <a:solidFill>
                  <a:srgbClr val="1A3A5C"/>
                </a:solidFill>
              </a:rPr>
              <a:t>subFinder</a:t>
            </a:r>
          </a:p>
          <a:p>
            <a:pPr algn="l"/>
            <a:r>
              <a:rPr sz="2800">
                <a:solidFill>
                  <a:srgbClr val="2C3E50"/>
                </a:solidFill>
              </a:rPr>
              <a:t>Calibrated classical-ML for PUL substrate prediction</a:t>
            </a:r>
          </a:p>
          <a:p>
            <a:pPr algn="l">
              <a:spcBef>
                <a:spcPts val="2000"/>
              </a:spcBef>
            </a:pPr>
            <a:r>
              <a:rPr sz="1600">
                <a:solidFill>
                  <a:srgbClr val="7F8C8D"/>
                </a:solidFill>
              </a:rPr>
              <a:t>Benchmark · best model · reproducibility · signature genes ·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Problem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Predict one of 12 polysaccharide substrate classes from a PUL's gene-token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Dataset — </a:t>
            </a:r>
            <a:r>
              <a:rPr sz="1500">
                <a:solidFill>
                  <a:srgbClr val="2C3E50"/>
                </a:solidFill>
              </a:rPr>
              <a:t>1,030 labeled PULs across 12 substrates (alginate, alpha-glucan, alpha-mannan, arabinogalactan, beta-glucan, beta-mannan, chitin, fructan, galactan, host glycan, pectin, xylan)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Each PUL — </a:t>
            </a:r>
            <a:r>
              <a:rPr sz="1500">
                <a:solidFill>
                  <a:srgbClr val="2C3E50"/>
                </a:solidFill>
              </a:rPr>
              <a:t>a comma/pipe-separated string of CAZy family IDs, transporter classification IDs, transcription-factor types, and null padding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Cross-validation — </a:t>
            </a:r>
            <a:r>
              <a:rPr sz="1500">
                <a:solidFill>
                  <a:srgbClr val="2C3E50"/>
                </a:solidFill>
              </a:rPr>
              <a:t>5-repeat × 5-fold Repeated Stratified K-Fold (n=25 trials per configuration) — leak-free: word-embedding models retrained per fold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1A3A5C"/>
                </a:solidFill>
              </a:rPr>
              <a:t>Goal — </a:t>
            </a:r>
            <a:r>
              <a:rPr sz="1500">
                <a:solidFill>
                  <a:srgbClr val="2C3E50"/>
                </a:solidFill>
              </a:rPr>
              <a:t>(1) maximise predictive accuracy, (2) emit calibrated probabilities, (3) produce per-PUL signature-gene attributions that match literature CAZy knowledge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29 configurations = (3 featurizer families × 1 classifier swap) + (4 DL architectures × 5 embeddings)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Featurizers (3)  </a:t>
            </a:r>
            <a:r>
              <a:rPr sz="1300">
                <a:solidFill>
                  <a:srgbClr val="2C3E50"/>
                </a:solidFill>
              </a:rPr>
              <a:t>CountVectorizer (paper's tok_comma_pipe), CountVectorizer (tok_cpu — additionally splits on underscore), FastText mean+max-concat (gensim ft.wv[t] with n-gram OOV)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Embeddings retrained per fold (6)  </a:t>
            </a:r>
            <a:r>
              <a:rPr sz="1300">
                <a:solidFill>
                  <a:srgbClr val="2C3E50"/>
                </a:solidFill>
              </a:rPr>
              <a:t>FastText cbow/sg, Word2Vec cbow/sg, Doc2Vec dm/dbow — leak-free (test tokens never enter embedding training)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Classifiers  </a:t>
            </a:r>
            <a:r>
              <a:rPr sz="1300">
                <a:solidFill>
                  <a:srgbClr val="2C3E50"/>
                </a:solidFill>
              </a:rPr>
              <a:t>OvR(BalancedRF n=100) baseline; OvR(ExtraTrees n=500 log2/sqrt) ours; 4 DL architectures from paper (vanilla LSTM, LSTM+attention, just-attention, 4-block transformer)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Hyperparameters  </a:t>
            </a:r>
            <a:r>
              <a:rPr sz="1300">
                <a:solidFill>
                  <a:srgbClr val="2C3E50"/>
                </a:solidFill>
              </a:rPr>
              <a:t>Paper-verbatim for shallow + DL except batch (DL_BATCH=1024, Transformer=4096 for M4 Max throughput); EarlyStopping patience=30, validation 25%, Adam 1e-4</a:t>
            </a:r>
          </a:p>
          <a:p>
            <a:pPr algn="l">
              <a:spcAft>
                <a:spcPts val="1300"/>
              </a:spcAft>
            </a:pPr>
            <a:r>
              <a:rPr sz="1400" b="1">
                <a:solidFill>
                  <a:srgbClr val="1A3A5C"/>
                </a:solidFill>
              </a:rPr>
              <a:t>Total  </a:t>
            </a:r>
            <a:r>
              <a:rPr sz="1300">
                <a:solidFill>
                  <a:srgbClr val="2C3E50"/>
                </a:solidFill>
              </a:rPr>
              <a:t>29 configs × 25 trials = 725 fits; reused per-fold embeddings = reproducible to ~1e-3 on DL, bit-identical on sklearn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Benchmark leaderboard — 29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Mean test accuracy ± 1 SD across the full 5×5 RSKF grid (n=25 trials per config). Best on top.</a:t>
            </a:r>
          </a:p>
        </p:txBody>
      </p:sp>
      <p:pic>
        <p:nvPicPr>
          <p:cNvPr id="4" name="Picture 3" descr="fig1_benchmark_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666" y="1325880"/>
            <a:ext cx="7784362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every row is one of 29 configurations (featurizer → classifier pair); bars are sorted descending so the strongest configs are at the top. Green = our shallow winners; navy = paper's Balanced RF baselines; orange = paper's deep architectures. Numbers next to each bar are the 25-trial mean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Top-5 podium — the leading configurations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Both #1 and #2 share the same OvR(ExtraTrees) classifier under different featurizers — the win is in the classifier, not the featurizer</a:t>
            </a:r>
          </a:p>
        </p:txBody>
      </p:sp>
      <p:pic>
        <p:nvPicPr>
          <p:cNvPr id="4" name="Picture 3" descr="fig1b_top5_po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296" y="1371600"/>
            <a:ext cx="8545101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TAKEAWAY — swapping the paper's Balanced RF (n=100) for OvR(ExtraTrees n=500) on the same data delivers +6 pp accuracy. The featurizer choice (CountVec vs. FastText) is a secondary effect; ranks #3–#5 are all the paper's BRF baseline with different word-embedding featurizers.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Reproducibility — does a rerun give the same number?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Δ accuracy (retrained mean − original mean, should be ≈ 0). Restricted to the 29 configs with a COMPLETE 25-trial retrain in rep_1 (excluded: 0 partial/missing transformer configs).</a:t>
            </a:r>
          </a:p>
        </p:txBody>
      </p:sp>
      <p:pic>
        <p:nvPicPr>
          <p:cNvPr id="4" name="Picture 3" descr="fig3_reproduc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3631" y="1417320"/>
            <a:ext cx="7164432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the question is: rerunning the SAME (config, seed, fold) on the SAME data, do we get the same accuracy? Our sklearn winners (green) reproduce BIT-IDENTICALLY; paper's BRF (navy) drifts ≤0.0017 (imblearn thread-order non-det); paper deep configs (orange) drift ≤0.04 (TF GPU op-order non-det). None of these change rankings.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confusion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OvR(ExtraTrees 500, log2) on seed-42 5-fold out-of-fold predictions  (n=1030 PULs, acc=0.9029)</a:t>
            </a:r>
          </a:p>
        </p:txBody>
      </p:sp>
      <p:pic>
        <p:nvPicPr>
          <p:cNvPr id="4" name="Picture 3" descr="fig4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568" y="1325880"/>
            <a:ext cx="6212558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rows are true substrate, columns are predicted; cell numbers are PUL counts. Diagonal cells are correct predictions; off-diagonal cells are mistakes. The hardest classes are fructan and beta-mannan (small canonical sets and few training examples); alginate, pectin and xylan reach near-perfect classwise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Best model — per-substrate F1 / precision /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Seed-42 5-fold OOF, sorted by F1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554480"/>
          <a:ext cx="73152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463040"/>
                <a:gridCol w="1463040"/>
                <a:gridCol w="1280160"/>
              </a:tblGrid>
              <a:tr h="35169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 test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0.955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97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102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0.929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0.902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123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0.889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0.911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0.900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72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0.812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0.778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31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0.808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0.677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C3E50"/>
                          </a:solidFill>
                        </a:rPr>
                        <a:t>0.737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Probability calibration of the chosen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Temperature scaling halves ECE while preserving the argmax accuracy. ALL signature-gene analyses on the next slides use these CALIBRATED probabilities (T=0.70) — sig genes depend on probabilities, so they should be computed on the deployed (calibrated) model.</a:t>
            </a:r>
          </a:p>
        </p:txBody>
      </p:sp>
      <p:pic>
        <p:nvPicPr>
          <p:cNvPr id="4" name="Picture 3" descr="fig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51" y="1508760"/>
            <a:ext cx="10907591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HOW TO READ — the reliability diagram (left) plots predicted confidence vs. empirical accuracy across 10 bins; a perfectly-calibrated model sits on the dashed diagonal. Temperature scaling (green) is the recommended protocol: halves ECE (0.094 → 0.029) with zero loss of argmax accuracy. IMPORTANT: the leave-one-token-out Δ-prob ablations on slides 11-13 are computed AFTER applying per-fold temperature scaling (mean T=0.70), so the sig genes reflect the deployed model's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signature genes (raw model top-3) — lit-DB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NO filtering. Of 26 CAZy features in 36 top-3 slots: 21 are lit-canonical (19 via 1:1, 2 via collapse); 5 CAZy not in lit-canon; 10 non-CAZy tokens (lit can't check).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383280"/>
                <a:gridCol w="3383280"/>
                <a:gridCol w="3383280"/>
              </a:tblGrid>
              <a:tr h="358726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1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2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top 3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PL17 (imp 0.125)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PL6 (imp 0.110)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GntR (imp 0.065)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 (imp 0.094)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0.058)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GH97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GH99 (imp 0.119)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GH92 (imp 0.117)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GH125 (imp 0.089)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GH51 (imp 0.097)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via collapse ← arabinan, arabinogalactan protein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24 (imp 0.047)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 (imp 0.034)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 (imp 0.031)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GH26 (imp 0.069)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GH130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 (imp 0.150)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4.A.3.2.1 (imp 0.064)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4.A.3.2.7 (imp 0.042)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GH32 (imp 0.220)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2.A.1.7.17 (imp 0.043)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PfkB (imp 0.028)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GH42 (imp 0.045)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[miss] GH53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not in lit-canon</a:t>
                      </a:r>
                    </a:p>
                  </a:txBody>
                  <a:tcPr>
                    <a:solidFill>
                      <a:srgbClr val="FCE4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nan (imp 0.035)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CE9 (imp 0.044)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[—] LacI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non-CAZy: lit cannot check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CBM32 (imp 0.032)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GH28 (imp 0.049)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PL1 (imp 0.038)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GH105 (imp 0.036)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587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GH10 (imp 0.074)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GH43 (imp 0.059)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[LIT] GH67 (imp 0.037)</a:t>
                      </a:r>
                    </a:p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 lit match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172200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C3E50"/>
                </a:solidFill>
              </a:rPr>
              <a:t>[LIT] = canonical CAZy in literature (green; darker = 1:1 exact, lighter = via collapse)     [miss] = CAZy family but NOT in lit canon for this substrate (red)     [—] = non-CAZy token; literature cannot adjudicate (yellow)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Example predictions on held-out test PULs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All 10 examples are correctly-classified PULs (true substrate = predicted substrate) cherry-picked for high literature-canonical coverage in their top-5 ablation list. Population-level metrics across all 1030 PULs are on the next slide.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691640"/>
          <a:ext cx="11841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51560"/>
                <a:gridCol w="1051560"/>
                <a:gridCol w="594360"/>
                <a:gridCol w="777240"/>
                <a:gridCol w="4023360"/>
                <a:gridCol w="411480"/>
              </a:tblGrid>
              <a:tr h="390698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PUL gene-token sequence (first ~70 chars)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TRUE substrate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predicted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max prob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top-5 signature genes (LIT=lit-canon; CAZy; acc=accessory)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#LIT/5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CE12,GH28,PL10_1|CE8,GH43_10|CBM91,GH105,GH105,8.A.46.1.6,1.B.14.6....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2.1e-17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GH28; [LIT] CE8; [LIT] CE12; [LIT] PL10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1.A.23,null,GH29|CBM32,GH2,GH20,null,null,null,1.B.14,GH18,null,nul...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9.9e-17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GH2; [LIT] CBM32; [LIT] GH29; [LIT] GH20; [LIT] GH18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GH105,CE8,CE12|CE8,HTH_AraC,null,null,1.B.14,PL1_2,PL1_2,9.B.116,Ly...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2.5e-16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GH105; [LIT] CE12; [LIT] GH28; [LIT] PL1; [LIT] CE8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CE6|GH95,CE1,GH5_21,GH10,GH10,null,null,null,null,1.B.14.6.1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0.755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1.9e-07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CE6; [LIT] GH95; [LIT] GH5; [LIT] CE1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1.B.14,GH29,GH18,GH20,GH2,GH3,GH125,GH92,GH35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GH20; [LIT] GH29; [LIT] GH18; [LIT] GH92; [LIT] GH2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GH48,GH8,GH9|CBM3,CBM4|GH9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0.989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1.9e-22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GH9; [LIT] CBM4; [LIT] CBM3; [LIT] GH8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1.B.14.6.1,null,null,null,null,GH10,GH5_21,null,GH43_35,GH43_1,GH10...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1.3e-17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GH10; [LIT] GH67; [LIT] GH43; [LIT] GH5; [acc] null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null,HATPase_c,null,9.B.174,GH3,GH2,GH31,HTH_AraC|HTH_AraC,GH9,null...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0.949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6.4e-15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GH31; [LIT] GH3; [LIT] GH5; [acc] 4; [LIT] GH2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GH18,AA10|CBM5,GH18|CBM5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1.6e-140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907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GH18,AA10|CBM5|CBM5,GH18|CBM5|CBM5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1.000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3.7e-126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C3E50"/>
                          </a:solidFill>
                          <a:latin typeface="Menlo"/>
                        </a:rPr>
                        <a:t>[LIT] GH18; [LIT] CBM5; [LIT] AA10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TRUE &amp; PREDICTED columns are both shown so reviewers can confirm we're not hiding errors — in all 10 rows truth equals prediction by construction (we filter to correctly-classified PULs first, then rank by lit-canonical coverage). For a per-PUL hit-rate that includes ALL eligible PULs (not just the cherry-picked top 10), see Slide 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Population-level signature-gene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Two complementary recall-style metrics. TRUE-class attribution on CALIBRATED probabilities (T=0.70) — same method used in slide 13's per-substrate funnels.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1430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2C3E50"/>
                </a:solidFill>
              </a:rPr>
              <a:t>How we built 'scope': of the 394 (substrate, canonical-CAZy) pairs the literature lists, many of those canonical genes never appear in any of our 1030 PULs — we exclude those, leaving 173 'in-scope' (substrate, gene) pairs the model could plausibly find. Across ALL 1030 OOF PULs, 837 contain ≥1 in-scope canonical gene for their TRUE substrate (the 'eligible' denominator).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C3E50"/>
                </a:solidFill>
              </a:rPr>
              <a:t>Left bar (PUL-level recall): for what % of eligible PULs does the top-K Δ_TRUE-class ablation list include at least one canonical gene for the TRUE substrate? Right bar (gene-level recall): of the 173 in-scope canonical genes, how many does the model surface as a top-K Δ_TRUE-class signature gene anywhere in the population? K=3 totals (768/837=91.8% any-hit and 109/173=63.0% scope coverage) match slide 13's per-substrate funnel totals exactly.</a:t>
            </a:r>
          </a:p>
        </p:txBody>
      </p:sp>
      <p:pic>
        <p:nvPicPr>
          <p:cNvPr id="5" name="Picture 4" descr="fig6_lit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09" y="2377440"/>
            <a:ext cx="10691475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Per-substrate sig-gene funnel — TRUE-class attribution (K=3)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Δ-prob computed against the TRUE substrate, not the argmax. Decouples attribution quality from classification quality — we ask 'when truth is s, did the model surface a canonical CAZy for s as a top-3 sig gene?' regardless of whether the model picked s as its prediction.</a:t>
            </a:r>
          </a:p>
        </p:txBody>
      </p:sp>
      <p:pic>
        <p:nvPicPr>
          <p:cNvPr id="4" name="Picture 3" descr="fig8b_per_substrate_sig_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436" y="1508760"/>
            <a:ext cx="9314821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WHY TRUE-CLASS ON CALIBRATED PROBS — our model outputs probabilities for all 12 classes for every PUL, so leave-one-token-out Δ-prob can be computed for ANY class. We compute Δ_s for TRUE substrate s using the CALIBRATED probabilities (per-fold temperature scaling, see Slide 9), which is what the deployed inference pipeline emits. Both funnels use truth as the unit (no 'correctly predicted' gate). Totals: PUL view 1030 → 837 eligible → 768 hit (91.8%) · gene view 394 → 173 in-scope → 109 flagged (63.0%). Scope recall is ~3 pp higher than the argmax-gated 60.1% on legacy aggregates because we now catch genes attributed correctly in PULs the model classified wrong.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Internal robustness — accuracy vs train-vocab OOV proportion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Uses the SAME featurizer the deployed model uses (CountVec with tok_cpu, fit per fold on outer_tr only). 'OOV' = test tokens NOT in the training fold's vocab.</a:t>
            </a:r>
          </a:p>
        </p:txBody>
      </p:sp>
      <p:pic>
        <p:nvPicPr>
          <p:cNvPr id="4" name="Picture 3" descr="fig8c_oov_v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417320"/>
            <a:ext cx="11247120" cy="3648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READING + CAVEAT — bar widths ∝ PUL count per bucket. 89% of test PULs have 0% OOV; the model scores 91% on them. Once OOV &gt;10%, accuracy collapses to ~64%. CAVEAT: 'novel' here means WITHIN-DATASET distinct-token frequency, NOT biological novelty (1030 PULs share a tight ~517-token vocab; a typical training fold covers ~488 of them). The TRUE cross-organism novelty test is on fungal CGCs — see supplement S9 where 24/24 are flagged REFUSE.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Robustness — how stable is each model family across trials?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X-axis = absolute test accuracy (range 0.4-0.95). 6 rows = 6 model families pooling every (config × seed × fold) trial. Distinct from Slide 6 which shows Δ accuracy of a single rerun.</a:t>
            </a:r>
          </a:p>
        </p:txBody>
      </p:sp>
      <p:pic>
        <p:nvPicPr>
          <p:cNvPr id="4" name="Picture 3" descr="fig9_trial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4" y="1417320"/>
            <a:ext cx="8312066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126480"/>
            <a:ext cx="11430000" cy="502920"/>
          </a:xfrm>
          <a:prstGeom prst="rect">
            <a:avLst/>
          </a:prstGeom>
          <a:solidFill>
            <a:srgbClr val="FFF9E6"/>
          </a:solidFill>
          <a:ln w="6350">
            <a:solidFill>
              <a:srgbClr val="2C3E50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WHAT THIS IS — the question is: for ONE family, how much does a single (seed, fold) trial change the accuracy? Box markers show central tendency; dots are individual trials. The green family sits entirely above 0.86 with a tight ~0.04 spread; deep families span much wider (some folds dip below 0.55). Our shallow ensemble is BOTH more accurate AND more stable.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Full 29-config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Every configuration benchmarked; rank 1 highlighted gold, ranks 2-3 pale gold.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325880"/>
          <a:ext cx="118872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828800"/>
                <a:gridCol w="1005840"/>
                <a:gridCol w="2286000"/>
                <a:gridCol w="2011680"/>
                <a:gridCol w="2743200"/>
                <a:gridCol w="1691640"/>
              </a:tblGrid>
              <a:tr h="170688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config (shorthand)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featurizer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feat.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classifier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clf. detail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mean ± 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cpu__ET500_log2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tok_cpu (splits on , | _)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n=500 max_features=log2 class_weight=balanced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</a:rPr>
                        <a:t>0.9058 ± 0.0172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ftCbow_MM__ET500_sqrt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mean+max concat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n=500 max_features=sqrt class_weight=balanced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0.9012 ± 0.0220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cv__BRF100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paper's tok_comma_pipe (, |)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0.8443 ± 0.0239</a:t>
                      </a:r>
                    </a:p>
                  </a:txBody>
                  <a:tcPr>
                    <a:solidFill>
                      <a:srgbClr val="FFF9E6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0.8322 ± 0.0296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0.8268 ± 0.0241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0.8249 ± 0.0259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0.8221 ± 0.0237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0.8204 ± 0.0302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0.8184 ± 0.0235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0.8183 ± 0.0232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0.8146 ± 0.0276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0.8118 ± 0.0226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0.8113 ± 0.0263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d2vDm__LSTMattn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LSTM + attention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0.8082 ± 0.0266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w2vCbow__Trans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0.8043 ± 0.0204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0.7988 ± 0.0322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0.7986 ± 0.0239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w2vSg__JustAttn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0.7891 ± 0.0311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0.7872 ± 0.0427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d2vDm__Trans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4-block transformer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0.7819 ± 0.0365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0.7761 ± 0.0404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d2vDbow__BRF100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DBOW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0.7707 ± 0.0244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d2vDm__JustAttn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attention-only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0.7573 ± 0.0360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ftSg__LSTM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0.6938 ± 0.1013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w2vSg__LSTM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skip-gram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0.6856 ± 0.1023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w2vCbow__LSTM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0.6454 ± 0.0847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ftCbow__LSTM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CBOW · mean-pooled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0.6315 ± 0.0845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vanilla LSTM (paper)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0.6256 ± 0.0767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170688"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d2vDm__BRF100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DM · doc-vector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n=100 class_weight=balanced (paper)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>
                          <a:solidFill>
                            <a:srgbClr val="2C3E50"/>
                          </a:solidFill>
                        </a:rPr>
                        <a:t>0.5880 ± 0.0311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Sorted by mean test accuracy; n=25 trials each (5×5 RSKF)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featurizer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featurizer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1371600"/>
                <a:gridCol w="1645920"/>
                <a:gridCol w="2011680"/>
              </a:tblGrid>
              <a:tr h="65836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featurizer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CountVec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0.8750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FastText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0.7947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0.0835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Word2Vec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0.0756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Doc2Vec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0.7219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0.0936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029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classifier choices. Pattern — CountVec leads because it carries our ExtraTrees winner; FastText/Word2Vec/Doc2Vec families are pulled down by their BRF/DL classifier pairings.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Performance by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Averaged over all (config, seed, fold) trials sharing the same classifier family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371600"/>
                <a:gridCol w="1463040"/>
                <a:gridCol w="1828800"/>
              </a:tblGrid>
              <a:tr h="522514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classifier family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mean accuracy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std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configs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n trials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OvR(ExtraTrees)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0.9035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0.0197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C3E50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LSTM+attention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0.8163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0.0247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0.8033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OvR(BalancedRF)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0.7855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0.0877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175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0.7817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DL: LSTM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0.6564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0.0933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C3E50"/>
                          </a:solidFill>
                        </a:rPr>
                        <a:t>125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548640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2C3E50"/>
                </a:solidFill>
              </a:rPr>
              <a:t>Note: averages mix in different featurizer choices. Pattern — OvR(ExtraTrees) is the only family in the &gt;0.90 band; every DL family lands in 0.74-0.82.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Training time per classifier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Why our shallow winner is cheap. Grand total across all 725 fits: 16158 s = 4.49 h on Apple M4 Max</a:t>
            </a:r>
          </a:p>
        </p:txBody>
      </p:sp>
      <p:pic>
        <p:nvPicPr>
          <p:cNvPr id="4" name="Picture 3" descr="fig10_training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122" y="1371600"/>
            <a:ext cx="7373449" cy="329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i="1">
                <a:solidFill>
                  <a:srgbClr val="2C3E50"/>
                </a:solidFill>
              </a:rPr>
              <a:t>Our winner trains in ~3 s/fold (≈75 s per 25-fold config); the most expensive DL family — the 4-block transformer — takes ~70 s/fold (≈30 min per config), i.e. ~24× more compute per fit. Times exclude per-fold word-embedding training (cached under fold_cache_v2/) and the OvR(ExtraTrees) winner is therefore ~25× more compute-efficient per percentage point of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Appendix · Substrate-alias map between literature DB and our 12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7F8C8D"/>
                </a:solidFill>
              </a:rPr>
              <a:t>Curated DB has 75 finer-grained substrate categories; we collapse them into our 12 with primary-literature support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1732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5029200"/>
                <a:gridCol w="1463040"/>
                <a:gridCol w="3566160"/>
              </a:tblGrid>
              <a:tr h="379827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Our class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Lit name(s)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Match type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Citation</a:t>
                      </a:r>
                    </a:p>
                  </a:txBody>
                  <a:tcPr>
                    <a:solidFill>
                      <a:srgbClr val="1A3A5C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alginate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(Lombard 2014 NAR)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pectin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xylan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beta-mannan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fructan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1:1 exact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beta-glucan (1:1) + cellulose, cellooligosaccharide, xyloglucan, beta-glycan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+ 4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Burton 2006 Science 311:1940; Eklof &amp; Brumer 2010 Plant Physiol 153:456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alpha-glucan (1:1) + starch, glycogen, sucrose, raffinose, trehalose, palatinose, glucooligo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+ 7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Stam 2006 Protein Eng. 19:555; Janecek 2014 Cell. Mol. Life Sci. 71:1149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chitin (1:1) + chitosan, chitooligosaccharide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+ 2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Hartl 2012 Appl. Microbiol. 93:533; Adrangi &amp; Faramarzi 2013 Biotech. Adv. 31:1786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host glycan (1:1) + HMO, sialic-acid, fucose (collapse)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exact + 3 alias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Marcobal 2011 Cell Host &amp; Microbe 10:507; Tailford 2015 Frontiers Genet. 6:81</a:t>
                      </a:r>
                    </a:p>
                  </a:txBody>
                  <a:tcPr>
                    <a:solidFill>
                      <a:srgbClr val="E0F3E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arabinogalactan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arabinan + arabinogalactan protein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Tan 2013 Plant Cell 25:270; Showalter 2010 Plant Physiol 153:485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galactan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alpha-galactan + beta-galactan (no 1:1 entry)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collapse only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C3E50"/>
                          </a:solidFill>
                        </a:rPr>
                        <a:t>CAZy DB — anomericity sub-classes</a:t>
                      </a:r>
                    </a:p>
                  </a:txBody>
                  <a:tcPr>
                    <a:solidFill>
                      <a:srgbClr val="FDF6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Detailed citations in paper/reference.bib; codified as ALIAS_PROVENANCE in presentations/build_slides.py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3A5C"/>
                </a:solidFill>
              </a:rP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Best configuration — </a:t>
            </a:r>
            <a:r>
              <a:rPr sz="1300">
                <a:solidFill>
                  <a:srgbClr val="2C3E50"/>
                </a:solidFill>
              </a:rPr>
              <a:t>cpu__ET500_log2 = CountVec (tok_cpu) × OvR(ExtraTrees n=500, log2, class_weight='balanced', bootstrap=False) — 0.9058 ± 0.0172 on full 5×5 RSKF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Wins by classifier choice, not features — </a:t>
            </a:r>
            <a:r>
              <a:rPr sz="1300">
                <a:solidFill>
                  <a:srgbClr val="2C3E50"/>
                </a:solidFill>
              </a:rPr>
              <a:t>+6.16 pp over published BRF baseline (paired t-test p ≈ 5×10⁻¹⁴), +8.10 pp over best paper DL (LSTM-with-attention on FastText-skipgram)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Calibrated for deployment — </a:t>
            </a:r>
            <a:r>
              <a:rPr sz="1300">
                <a:solidFill>
                  <a:srgbClr val="2C3E50"/>
                </a:solidFill>
              </a:rPr>
              <a:t>Temperature T ≈ 0.70 reduces 10-bin ECE from 0.094 to 0.029 while preserving 0.9029 OOF accuracy exactly (monotonic)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Signature genes are biologically interpretable — </a:t>
            </a:r>
            <a:r>
              <a:rPr sz="1300">
                <a:solidFill>
                  <a:srgbClr val="2C3E50"/>
                </a:solidFill>
              </a:rPr>
              <a:t>Per-PUL leave-one-token-out ablation surfaces ≥1 literature-canonical CAZy in top-3 for 93% of eligible PULs; covers 62% of the in-scope canonical gene vocabulary at K=3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27AE60"/>
                </a:solidFill>
              </a:rPr>
              <a:t>Fully reproducible — </a:t>
            </a:r>
            <a:r>
              <a:rPr sz="1300">
                <a:solidFill>
                  <a:srgbClr val="2C3E50"/>
                </a:solidFill>
              </a:rPr>
              <a:t>Every (config, seed, fold) classifier weight + train/test predictions saved in reproducibility/rep_1/predictions/ — single command `--training False` rebuilds every paper number in ~1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i="1">
                <a:solidFill>
                  <a:srgbClr val="7F8C8D"/>
                </a:solidFill>
              </a:rPr>
              <a:t>subFinder substrate prediction — rep_1 reference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